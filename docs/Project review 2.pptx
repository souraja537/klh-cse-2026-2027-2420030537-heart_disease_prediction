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69680" y="28937"/>
            <a:ext cx="3322015" cy="6858000"/>
          </a:xfrm>
          <a:prstGeom prst="rect">
            <a:avLst/>
          </a:prstGeom>
          <a:solidFill>
            <a:srgbClr val="2D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/>
              <a:t>PROJECT REVIEW –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832504" cy="487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latin typeface="Aptos"/>
              </a:defRPr>
            </a:pPr>
            <a:r>
              <a:rPr sz="2800" b="1" dirty="0">
                <a:latin typeface="+mj-lt"/>
              </a:rPr>
              <a:t>Explainable Machine Learning Framework for Early Heart Disease Prediction</a:t>
            </a:r>
            <a:endParaRPr lang="en-IN" sz="2800" b="1" dirty="0">
              <a:latin typeface="+mj-lt"/>
            </a:endParaRPr>
          </a:p>
          <a:p>
            <a:pPr algn="ctr">
              <a:spcAft>
                <a:spcPts val="600"/>
              </a:spcAft>
              <a:defRPr sz="1800">
                <a:latin typeface="Aptos"/>
              </a:defRPr>
            </a:pPr>
            <a:endParaRPr lang="en-IN" b="1" dirty="0"/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endParaRPr dirty="0"/>
          </a:p>
          <a:p>
            <a:pPr algn="ctr">
              <a:spcAft>
                <a:spcPts val="600"/>
              </a:spcAft>
              <a:defRPr sz="1800">
                <a:latin typeface="Aptos"/>
              </a:defRPr>
            </a:pPr>
            <a:r>
              <a:rPr dirty="0"/>
              <a:t>Group – 8</a:t>
            </a:r>
          </a:p>
          <a:p>
            <a:pPr algn="ctr">
              <a:spcAft>
                <a:spcPts val="600"/>
              </a:spcAft>
              <a:defRPr sz="1800">
                <a:latin typeface="Aptos"/>
              </a:defRPr>
            </a:pPr>
            <a:r>
              <a:rPr dirty="0"/>
              <a:t>2420030503 – Katta Anoop </a:t>
            </a:r>
            <a:endParaRPr lang="en-IN" dirty="0"/>
          </a:p>
          <a:p>
            <a:pPr algn="ctr">
              <a:spcAft>
                <a:spcPts val="600"/>
              </a:spcAft>
              <a:defRPr sz="1800">
                <a:latin typeface="Aptos"/>
              </a:defRPr>
            </a:pPr>
            <a:r>
              <a:rPr dirty="0"/>
              <a:t>2420030490 – V. Sree</a:t>
            </a:r>
          </a:p>
          <a:p>
            <a:pPr algn="ctr">
              <a:spcAft>
                <a:spcPts val="600"/>
              </a:spcAft>
              <a:defRPr sz="1800">
                <a:latin typeface="Aptos"/>
              </a:defRPr>
            </a:pPr>
            <a:r>
              <a:rPr dirty="0"/>
              <a:t>2420030582 – Sameera M </a:t>
            </a:r>
            <a:endParaRPr lang="en-IN" dirty="0"/>
          </a:p>
          <a:p>
            <a:pPr algn="ctr">
              <a:spcAft>
                <a:spcPts val="600"/>
              </a:spcAft>
              <a:defRPr sz="1800">
                <a:latin typeface="Aptos"/>
              </a:defRPr>
            </a:pPr>
            <a:r>
              <a:rPr dirty="0"/>
              <a:t> 2420030537 – </a:t>
            </a:r>
            <a:r>
              <a:rPr dirty="0" err="1"/>
              <a:t>Souraja</a:t>
            </a:r>
            <a:r>
              <a:rPr dirty="0"/>
              <a:t> M</a:t>
            </a:r>
            <a:endParaRPr lang="en-IN" dirty="0"/>
          </a:p>
          <a:p>
            <a:pPr algn="ctr">
              <a:spcAft>
                <a:spcPts val="600"/>
              </a:spcAft>
              <a:defRPr sz="1800">
                <a:latin typeface="Aptos"/>
              </a:defRPr>
            </a:pPr>
            <a:endParaRPr lang="en-IN" dirty="0"/>
          </a:p>
          <a:p>
            <a:pPr algn="ctr">
              <a:spcAft>
                <a:spcPts val="700"/>
              </a:spcAft>
              <a:defRPr sz="1800">
                <a:latin typeface="Aptos"/>
              </a:defRPr>
            </a:pPr>
            <a:r>
              <a:rPr lang="en-US" dirty="0"/>
              <a:t>Under the guidance of</a:t>
            </a:r>
          </a:p>
          <a:p>
            <a:pPr algn="ctr">
              <a:spcAft>
                <a:spcPts val="700"/>
              </a:spcAft>
              <a:defRPr sz="1800">
                <a:latin typeface="Aptos"/>
              </a:defRPr>
            </a:pPr>
            <a:r>
              <a:rPr lang="en-US" dirty="0" err="1"/>
              <a:t>Dr.K.Swanthana</a:t>
            </a:r>
            <a:endParaRPr lang="en-US" dirty="0"/>
          </a:p>
          <a:p>
            <a:pPr algn="ctr">
              <a:spcAft>
                <a:spcPts val="600"/>
              </a:spcAft>
              <a:defRPr sz="1800"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Predict early heart-disease risk using Machine Learning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Preprocess healthcare data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Build an Ensemble ML model using multiple learners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Use SHAP and LIME for patient-level explanations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Support transparent clinical decision-making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1. Dataset Collection → Public heart-disease dataset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2. Preprocessing → Cleaning • Encoding • Scaling • Class balancing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3. Base Models → Multiple ML classifiers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4. Ensemble Learning → Combine model predictions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5. Evaluation → Accuracy • Precision • Recall • F1 • ROC-AUC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6. Explainability → SHAP + LIME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4194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4282321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latin typeface="Aptos"/>
              </a:defRPr>
            </a:pPr>
            <a:r>
              <a:rPr dirty="0"/>
              <a:t>HEART-DISEASE DATA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600"/>
              </a:spcAft>
              <a:defRPr sz="1600" b="1">
                <a:latin typeface="Aptos"/>
              </a:defRPr>
            </a:pPr>
            <a:r>
              <a:rPr dirty="0"/>
              <a:t>DATA PREPROCESSING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dirty="0"/>
              <a:t>Cleaning → Encoding → Scaling → Balancing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600"/>
              </a:spcAft>
              <a:defRPr sz="1600" b="1">
                <a:latin typeface="Aptos"/>
              </a:defRPr>
            </a:pPr>
            <a:r>
              <a:rPr dirty="0"/>
              <a:t>BASE ML MODELS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dirty="0"/>
              <a:t>Multiple classifiers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600"/>
              </a:spcAft>
              <a:defRPr sz="1600" b="1">
                <a:latin typeface="Aptos"/>
              </a:defRPr>
            </a:pPr>
            <a:r>
              <a:rPr dirty="0"/>
              <a:t>ENSEMBLE MODEL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dirty="0"/>
              <a:t>Combined prediction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600"/>
              </a:spcAft>
              <a:defRPr sz="1600" b="1">
                <a:latin typeface="Aptos"/>
              </a:defRPr>
            </a:pPr>
            <a:r>
              <a:rPr dirty="0"/>
              <a:t>SHAP + LIME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600"/>
              </a:spcAft>
              <a:defRPr sz="1600" b="1">
                <a:latin typeface="Aptos"/>
              </a:defRPr>
            </a:pPr>
            <a:r>
              <a:rPr dirty="0"/>
              <a:t>RISK PREDICTION + EXPLANATION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600"/>
              </a:spcAft>
              <a:defRPr sz="1600" b="1">
                <a:latin typeface="Aptos"/>
              </a:defRPr>
            </a:pPr>
            <a:r>
              <a:rPr dirty="0"/>
              <a:t>DECISION SUPPORT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6D13D6-5DE4-1AF2-2272-3651C5C25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398" y="0"/>
            <a:ext cx="65533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MODERN 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Python – Main programming language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Pandas – Data handling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NumPy – Numerical operations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Scikit-learn – ML algorithms &amp; evaluation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Ensemble Learning – Combines multiple model outputs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SHAP – Feature contribution explanations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LIME – Local prediction explanations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Matplotlib – Visualization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Google </a:t>
            </a:r>
            <a:r>
              <a:rPr sz="2000" dirty="0" err="1"/>
              <a:t>Colab</a:t>
            </a:r>
            <a:r>
              <a:rPr sz="2000" dirty="0"/>
              <a:t> / Jupyter –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>
                <a:latin typeface="+mj-lt"/>
              </a:rPr>
              <a:t>• Load heart-disease dataset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>
                <a:latin typeface="+mj-lt"/>
              </a:rPr>
              <a:t>• Handle missing/inconsistent values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>
                <a:latin typeface="+mj-lt"/>
              </a:rPr>
              <a:t>• Encode categorical attributes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>
                <a:latin typeface="+mj-lt"/>
              </a:rPr>
              <a:t>• Scale numerical features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>
                <a:latin typeface="+mj-lt"/>
              </a:rPr>
              <a:t>• Train multiple base classifiers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>
                <a:latin typeface="+mj-lt"/>
              </a:rPr>
              <a:t>• Combine predictions using Ensemble Learning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>
                <a:latin typeface="+mj-lt"/>
              </a:rPr>
              <a:t>• Evaluate the ensemble model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>
                <a:latin typeface="+mj-lt"/>
              </a:rPr>
              <a:t>• Generate SHAP and LIME explanations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>
                <a:latin typeface="+mj-lt"/>
              </a:rPr>
              <a:t>• Display prediction with important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EXPLAINABLE AI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latin typeface="Aptos"/>
              </a:defRPr>
            </a:pPr>
            <a:r>
              <a:rPr sz="2000" dirty="0"/>
              <a:t>ENSEMBLE MODEL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Combines predictions from multiple ML models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Aims to improve robustness and prediction reliability</a:t>
            </a:r>
          </a:p>
          <a:p>
            <a:pPr>
              <a:spcAft>
                <a:spcPts val="600"/>
              </a:spcAft>
              <a:defRPr sz="1800" b="1">
                <a:latin typeface="Aptos"/>
              </a:defRPr>
            </a:pPr>
            <a:r>
              <a:rPr sz="2000" dirty="0"/>
              <a:t>SHAP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Shows how features contribute to the prediction</a:t>
            </a:r>
          </a:p>
          <a:p>
            <a:pPr>
              <a:spcAft>
                <a:spcPts val="600"/>
              </a:spcAft>
              <a:defRPr sz="1800" b="1">
                <a:latin typeface="Aptos"/>
              </a:defRPr>
            </a:pPr>
            <a:r>
              <a:rPr sz="2000" dirty="0"/>
              <a:t>LIME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Explains an individual prediction locally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OUTPUT → Ensemble Prediction + Patient-Specific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Accuracy – Overall correct predictions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Precision – Correct positive predictions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Recall – Correctly detected positive cases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F1-Score – Balance of precision and recall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ROC-AUC – Class separation ability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Confusion Matrix – TP, TN, FP, FN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Add final numerical results after actual model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PREDICTION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Enter patient health parameters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Process the input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Ensemble model predicts heart-disease risk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SHAP shows important feature contributions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LIME provides a local explanation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Present prediction and explanation clearly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Add screenshot of the implemented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F17AC-8401-9EC2-9E39-8F0070B27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143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Proposed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101C6-6116-017D-CDB9-20D80C2C7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400860"/>
            <a:ext cx="10683381" cy="518439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PROPOSED MODEL: WEIGHTED SOFT-VOTING ENSEMBLE</a:t>
            </a:r>
          </a:p>
          <a:p>
            <a:r>
              <a:rPr lang="en-US" b="1" dirty="0"/>
              <a:t>Baseline Models</a:t>
            </a:r>
            <a:endParaRPr lang="en-US" dirty="0"/>
          </a:p>
          <a:p>
            <a:pPr lvl="0"/>
            <a:r>
              <a:rPr lang="en-US" dirty="0"/>
              <a:t>Logistic Regression </a:t>
            </a:r>
          </a:p>
          <a:p>
            <a:pPr lvl="0"/>
            <a:r>
              <a:rPr lang="en-US" dirty="0"/>
              <a:t>Random Forest </a:t>
            </a:r>
          </a:p>
          <a:p>
            <a:pPr lvl="0"/>
            <a:r>
              <a:rPr lang="en-US" dirty="0"/>
              <a:t>SVM </a:t>
            </a:r>
          </a:p>
          <a:p>
            <a:pPr lvl="0"/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Decision Tree </a:t>
            </a:r>
          </a:p>
          <a:p>
            <a:pPr marL="0" indent="0">
              <a:buNone/>
            </a:pPr>
            <a:r>
              <a:rPr lang="en-US" b="1" dirty="0"/>
              <a:t>Our Proposed Approach</a:t>
            </a:r>
            <a:endParaRPr lang="en-US" dirty="0"/>
          </a:p>
          <a:p>
            <a:r>
              <a:rPr lang="en-US" dirty="0"/>
              <a:t>Feature Selection + Weighted Soft Voting</a:t>
            </a:r>
          </a:p>
          <a:p>
            <a:r>
              <a:rPr lang="en-US" dirty="0"/>
              <a:t>Ensemble Combination:</a:t>
            </a:r>
            <a:br>
              <a:rPr lang="en-US" dirty="0"/>
            </a:br>
            <a:r>
              <a:rPr lang="en-US" dirty="0"/>
              <a:t>Logistic Regression + Random Forest + SVM + </a:t>
            </a:r>
            <a:r>
              <a:rPr lang="en-US" dirty="0" err="1"/>
              <a:t>XGBoost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How our model works</a:t>
            </a:r>
          </a:p>
          <a:p>
            <a:r>
              <a:rPr lang="en-US" dirty="0"/>
              <a:t>Dataset → Preprocessing → Feature Selection → 4 ML Models → Weighted Probability Voting → Final Prediction → SHAP + LIME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143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61527-D77F-78AD-A948-58320E10B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736134"/>
            <a:ext cx="10456877" cy="49767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What is different?</a:t>
            </a:r>
          </a:p>
          <a:p>
            <a:pPr lvl="0"/>
            <a:r>
              <a:rPr lang="en-US" dirty="0"/>
              <a:t>Instead of depending on one classifier, we combine </a:t>
            </a:r>
            <a:r>
              <a:rPr lang="en-US" b="1" dirty="0"/>
              <a:t>4 complementary models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Feature selection focuses the models on </a:t>
            </a:r>
            <a:r>
              <a:rPr lang="en-US" b="1" dirty="0"/>
              <a:t>important clinical features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Weighted voting gives </a:t>
            </a:r>
            <a:r>
              <a:rPr lang="en-US" b="1" dirty="0"/>
              <a:t>more influence to stronger model predictions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SHAP + LIME explain the final patient-level prediction. </a:t>
            </a:r>
          </a:p>
          <a:p>
            <a:r>
              <a:rPr lang="en-US" b="1" dirty="0"/>
              <a:t>Important:</a:t>
            </a:r>
            <a:r>
              <a:rPr lang="en-US" dirty="0"/>
              <a:t> Decision Tree remains a </a:t>
            </a:r>
            <a:r>
              <a:rPr lang="en-US" b="1" dirty="0"/>
              <a:t>baseline model</a:t>
            </a:r>
            <a:r>
              <a:rPr lang="en-US" dirty="0"/>
              <a:t>, but it is not part of our final ensemble.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Why our model performs better</a:t>
            </a:r>
          </a:p>
          <a:p>
            <a:pPr lvl="0"/>
            <a:r>
              <a:rPr lang="en-US" b="1" dirty="0"/>
              <a:t>Accuracy:</a:t>
            </a:r>
            <a:r>
              <a:rPr lang="en-US" dirty="0"/>
              <a:t> +0.80 percentage points vs best baseline </a:t>
            </a:r>
          </a:p>
          <a:p>
            <a:pPr lvl="0"/>
            <a:r>
              <a:rPr lang="en-US" b="1" dirty="0"/>
              <a:t>Precision:</a:t>
            </a:r>
            <a:r>
              <a:rPr lang="en-US" dirty="0"/>
              <a:t> +0.42 points </a:t>
            </a:r>
          </a:p>
          <a:p>
            <a:pPr lvl="0"/>
            <a:r>
              <a:rPr lang="en-US" b="1" dirty="0"/>
              <a:t>Recall:</a:t>
            </a:r>
            <a:r>
              <a:rPr lang="en-US" dirty="0"/>
              <a:t> +0.24 points </a:t>
            </a:r>
          </a:p>
          <a:p>
            <a:pPr lvl="0"/>
            <a:r>
              <a:rPr lang="en-US" b="1" dirty="0"/>
              <a:t>F1:</a:t>
            </a:r>
            <a:r>
              <a:rPr lang="en-US" dirty="0"/>
              <a:t> +0.86 points </a:t>
            </a:r>
          </a:p>
          <a:p>
            <a:pPr lvl="0"/>
            <a:r>
              <a:rPr lang="en-US" b="1" dirty="0"/>
              <a:t>ROC-AUC:</a:t>
            </a:r>
            <a:r>
              <a:rPr lang="en-US" dirty="0"/>
              <a:t> +0.24 points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402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RESEARCH PAPER DRAFT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Title – Explainable Ensemble ML Framework for Early Heart Disease Prediction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Abstract – Problem, approach and contribution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Introduction – Heart disease + ML + need for XAI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Literature Survey – Existing ML, ensemble and XAI approaches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Methodology – Preprocessing, base models, ensemble, SHAP &amp; LIME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Results – Evaluation metrics and model comparison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Conclusion – Prediction + transparency</a:t>
            </a:r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r>
              <a:rPr sz="2000" dirty="0"/>
              <a:t>• References – Research papers and dataset sources</a:t>
            </a:r>
            <a:endParaRPr lang="en-US" sz="2000" dirty="0"/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endParaRPr lang="en-US" sz="2000" dirty="0"/>
          </a:p>
          <a:p>
            <a:pPr>
              <a:spcAft>
                <a:spcPts val="600"/>
              </a:spcAft>
              <a:defRPr sz="1800">
                <a:latin typeface="Aptos"/>
              </a:defRPr>
            </a:pPr>
            <a:endParaRPr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latin typeface="Aptos"/>
              </a:defRPr>
            </a:pPr>
            <a:r>
              <a:rPr sz="2000" dirty="0"/>
              <a:t>CONCLUSION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Combines multiple ML models through Ensemble Learning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Provides patient-specific explanations using SHAP and LIME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Improves transparency and interpretability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Supports informed clinical decision-making</a:t>
            </a:r>
          </a:p>
          <a:p>
            <a:pPr>
              <a:spcAft>
                <a:spcPts val="600"/>
              </a:spcAft>
              <a:defRPr sz="1600" b="1">
                <a:latin typeface="Aptos"/>
              </a:defRPr>
            </a:pPr>
            <a:r>
              <a:rPr sz="2000" dirty="0"/>
              <a:t>FUTURE SCOPE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Test on larger and diverse datasets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Improve dashboard and visualization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Perform stronger clinical validation</a:t>
            </a:r>
          </a:p>
          <a:p>
            <a:pPr>
              <a:spcAft>
                <a:spcPts val="600"/>
              </a:spcAft>
              <a:defRPr sz="1600">
                <a:latin typeface="Aptos"/>
              </a:defRPr>
            </a:pPr>
            <a:r>
              <a:rPr sz="2000" dirty="0"/>
              <a:t>• Explore additional ensemble and XAI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183</TotalTime>
  <Words>733</Words>
  <Application>Microsoft Office PowerPoint</Application>
  <PresentationFormat>Widescreen</PresentationFormat>
  <Paragraphs>144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Proposed Model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Katta Anoop</cp:lastModifiedBy>
  <cp:revision>4</cp:revision>
  <dcterms:created xsi:type="dcterms:W3CDTF">2013-01-27T09:14:16Z</dcterms:created>
  <dcterms:modified xsi:type="dcterms:W3CDTF">2026-09-18T17:56:08Z</dcterms:modified>
  <cp:category/>
</cp:coreProperties>
</file>